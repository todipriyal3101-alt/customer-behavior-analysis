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A"/>
                </a:solidFill>
                <a:latin typeface="Arial"/>
              </a:rPr>
              <a:t>Revenue by Gender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03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A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A4A"/>
                </a:solidFill>
                <a:latin typeface="Arial"/>
              </a:rPr>
              <a:t>Revenue by Age Group (₹)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2238"/>
          </a:solidFill>
          <a:ln w="12700">
            <a:solidFill>
              <a:srgbClr val="16223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73152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417320"/>
            <a:ext cx="502920" cy="5029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03120"/>
            <a:ext cx="502920" cy="502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498080" y="795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C"/>
                </a:solidFill>
              </a:rPr>
              <a:t>Python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685800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C"/>
                </a:solidFill>
              </a:rPr>
              <a:t>MySQL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49808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C"/>
                </a:solidFill>
              </a:rPr>
              <a:t>Power BI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65760" y="91440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Customer Shopping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365760" y="15544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703A"/>
                </a:solidFill>
              </a:rPr>
              <a:t>Behavior Analysis</a:t>
            </a:r>
            <a:endParaRPr lang="en-US" sz="3800" dirty="0"/>
          </a:p>
        </p:txBody>
      </p:sp>
      <p:sp>
        <p:nvSpPr>
          <p:cNvPr id="12" name="Shape 7"/>
          <p:cNvSpPr/>
          <p:nvPr/>
        </p:nvSpPr>
        <p:spPr>
          <a:xfrm>
            <a:off x="365760" y="2377440"/>
            <a:ext cx="4114800" cy="36576"/>
          </a:xfrm>
          <a:prstGeom prst="rect">
            <a:avLst/>
          </a:prstGeom>
          <a:solidFill>
            <a:srgbClr val="3D5A8A"/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6576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AACC"/>
                </a:solidFill>
              </a:rPr>
              <a:t>End-to-End Data Analytics Project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65760" y="2926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49E"/>
                </a:solidFill>
              </a:rPr>
              <a:t>3,900 Records  •  Python  •  MySQL  •  Power BI  •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Analyzing 3,900 customer purchases to uncover spending patterns, product preferences and business opportunities.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560320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92224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746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Python EDA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Data cleaning, feature engineering &amp; loading to MySQL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17320" y="4160520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173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560320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92224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49040" y="1746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74904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MySQL Analysis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37560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10 business questions answered using structured SQL queries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251960" y="4160520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51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035040" y="1691640"/>
            <a:ext cx="25603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35040" y="1691640"/>
            <a:ext cx="2560320" cy="5029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92224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83680" y="17465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583680" y="19568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Power BI Dashboard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172200" y="233172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Interactive dashboard with slicers, charts &amp; KPI cards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086600" y="4160520"/>
            <a:ext cx="457200" cy="457200"/>
          </a:xfrm>
          <a:prstGeom prst="ellipse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0866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Dataset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118872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3,900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Total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65960" cy="118872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51760" y="12984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18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0604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18872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2984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37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5488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Missing Values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(Review Rating)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188720"/>
            <a:ext cx="1965960" cy="118872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12984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03720" y="1755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Product Categories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</a:rPr>
              <a:t>Key Feature Groups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Location, Subscription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Purchased, Category, Purchase Amount, Season, Size, 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Applied, Frequency of Purchases, Previous Purchases, Payment Method, Shipping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age_group, purchase_frequency_days (created in Python)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PYTHON EDA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Exploratory Data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Data preparation using Python &amp; Pandas before SQL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Data Loading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81051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Imported CSV with pandas.read_csv(). Used df.info() and df.describe() for initial inspection.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46304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63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15544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Missing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181051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37 null values in review_rating. Imputed using median per product category.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651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Column Standardization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9077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Renamed all columns to snake_case for readability (e.g., 'Purchase Amount' → purchase_amount).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56032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6032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651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9077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Created age_group by binning ages. Mapped frequency text (Weekly/Monthly) to numeric days.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5760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6576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Consistency Check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0050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Confirmed discount_applied == promo_code_used (100%). Dropped the redundant column.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4114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657600"/>
            <a:ext cx="502920" cy="9601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576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03A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</a:rPr>
              <a:t>MySQL Integration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400507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Used SQLAlchemy + quote_plus() to load DataFrame into MySQL via df.to_sql().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SQL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A"/>
                </a:solidFill>
              </a:rPr>
              <a:t>MySQL Analysis — 10 Business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1234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Revenue by Gender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Male: ₹1,57,890 | Female: ₹75,191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88720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66944" y="1234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High-Value Discount Users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66944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839 customers spent above avg with discounts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956816"/>
            <a:ext cx="41148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956816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5681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2002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Top Rated Products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2304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Gloves 3.86 | Sandals 3.84 | Boots 3.82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956816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956816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956816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66944" y="20025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Shipping vs Spend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66944" y="230428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Express: ₹60.48 | Standard: ₹58.46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41148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24912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72491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824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Subscriber Spend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Subscribers &amp; non-subscribers spend nearly equally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724912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724912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724912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66944" y="27706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Discount Rate by Product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Hat 50% | Sneakers 49.7% | Coat 49.1%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493008"/>
            <a:ext cx="41148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493008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4930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7824" y="3538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Customer Segmentation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77824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New / Returning / Loyal via CTE + CASE WHEN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493008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3493008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4930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66944" y="35387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Top 3 per Category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66944" y="3840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ROW_NUMBER() OVER (PARTITION BY category)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61104"/>
            <a:ext cx="41148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261104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26110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" y="43068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Repeat Buyers &amp; Subscription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77824" y="4608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958 subscribed vs 2,518 not (repeat buyers)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4261104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4261104"/>
            <a:ext cx="438912" cy="6858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261104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66944" y="43068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A4A"/>
                </a:solidFill>
              </a:rPr>
              <a:t>Revenue by Age Group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66944" y="4608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Young Adult ₹62,143 leads; Senior ₹55,763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Key Findings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1430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365760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Male customers generated 2x more revenue than female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Young Adults are the highest revenue-contributing age group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Subscribers &amp; non-subscribers have nearly equal average spend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</a:rPr>
              <a:t>Express shipping users spend ~Rs.2 more per order than Standard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POWER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Power BI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Interactive dashboard connected live to MySQL customer_behavior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27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3.9K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Customers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527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3.75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527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$59.76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Avg Purchase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417320"/>
            <a:ext cx="192024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527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</a:rPr>
              <a:t>73%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Non-Subscribers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606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% by Subscription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935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Donut Chart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73% No | 27% Yes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606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606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by Category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935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Bar Chart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Clothing leads all categories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2606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606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by Category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26480" y="2935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Bar Chart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Volume comparison across 4 categories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49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49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76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by Age Group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78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Bar Chart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Young Adult contributes most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3749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0" y="3749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776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Sales by Age Group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4078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Bar Chart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Consistent volume across groups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35040" y="3749040"/>
            <a:ext cx="2651760" cy="10058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3749040"/>
            <a:ext cx="265176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3776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Slicers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40782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Filters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2648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Gender, Category, Subscription, Shipping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CC"/>
                </a:solidFill>
              </a:rPr>
              <a:t>Data-driven actions for the business based on analysis outcomes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Boost Subscriptions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1856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Only 27% subscribe despite 73% being repeat buyers — targeted campaigns to improve conversion.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1508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783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105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13248" y="1600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 Program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13248" y="1856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Reward repeat buyers to move them from Returning to Loyal and encourage subscription sign-up.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651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351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2743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Young Adults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24128" y="2999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This age group contributes the most revenue — prioritize them in marketing campaigns.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754880" y="2651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926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5351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13248" y="2743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 Discount Policy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13248" y="2999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Top products like Hat and Sneakers have ~50% discount rate — balance margin with volume.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65760" y="3794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9651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4128" y="3886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Upsell Express Shipping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024128" y="4142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Express users spend more per order — promote it as a premium, revenue-driving option.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754880" y="3794760"/>
            <a:ext cx="4114800" cy="1005840"/>
          </a:xfrm>
          <a:prstGeom prst="rect">
            <a:avLst/>
          </a:prstGeom>
          <a:solidFill>
            <a:srgbClr val="162238"/>
          </a:solidFill>
          <a:ln w="6350">
            <a:solidFill>
              <a:srgbClr val="24355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46320" y="406908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4096512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13248" y="388620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Highlight Top Products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13248" y="414223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ACC"/>
                </a:solidFill>
              </a:rPr>
              <a:t>Promote Gloves, Sandals &amp; Boots in campaigns — they have the highest satisfaction scores.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Tools &amp; 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196596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</a:rPr>
              <a:t>Python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423160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pandas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" y="2935224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935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numpy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3447288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447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sqlalchemy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3959352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urllib.parse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14600" y="118872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14600" y="1188720"/>
            <a:ext cx="1965960" cy="8229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28016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</a:rPr>
              <a:t>MySQL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651760" y="2423160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5176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CTEs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651760" y="2935224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651760" y="2935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Window Functions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651760" y="3447288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651760" y="3447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Aggregations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651760" y="3959352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65176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Subqueries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63440" y="118872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63440" y="1188720"/>
            <a:ext cx="1965960" cy="822960"/>
          </a:xfrm>
          <a:prstGeom prst="rect">
            <a:avLst/>
          </a:prstGeom>
          <a:solidFill>
            <a:srgbClr val="E8703A"/>
          </a:solidFill>
          <a:ln w="12700">
            <a:solidFill>
              <a:srgbClr val="E8703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280160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54880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</a:rPr>
              <a:t>Power BI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800600" y="2423160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80060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MySQL Connector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800600" y="2935224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800600" y="2935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Slicers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4800600" y="3447288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800600" y="3447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Card Visuals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4800600" y="3959352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80060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Charts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812280" y="118872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812280" y="1188720"/>
            <a:ext cx="1965960" cy="822960"/>
          </a:xfrm>
          <a:prstGeom prst="rect">
            <a:avLst/>
          </a:prstGeom>
          <a:solidFill>
            <a:srgbClr val="2C7A5C"/>
          </a:solidFill>
          <a:ln w="12700">
            <a:solidFill>
              <a:srgbClr val="2C7A5C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80160"/>
            <a:ext cx="502920" cy="50292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903720" y="2029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4A"/>
                </a:solidFill>
              </a:rPr>
              <a:t>SQLAlchemy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6949440" y="2423160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949440" y="24231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create_engine()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949440" y="2935224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6949440" y="2935224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df.to_sql()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6949440" y="3447288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6949440" y="34472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quote_plus()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6949440" y="3959352"/>
            <a:ext cx="169164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6949440" y="39593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Connection Pooling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</a:rPr>
              <a:t>LEARNINGS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A"/>
                </a:solidFill>
              </a:rPr>
              <a:t>Key Learnings &amp;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35024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Data is rarely clean — small typos like 'Anually' vs 'Annually' in a mapping key can silently corrupt entire columns.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07568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SQL is powerful — window functions like ROW_NUMBER() OVER (PARTITION BY) enable complex ranking analysis cleanly.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8254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Connecting tools requires understanding their interfaces — SQLAlchemy URLs, MySQL Connector, and Power BI each had unique requirements.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584448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357530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Visualization makes findings actionable — the Power BI dashboard turned raw query results into business decisions.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34256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3251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full pipeline (Python → MySQL → Power BI) mirrors real-world analytics workflows used by professional data teams.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Analytics drives decisions. This project is proof.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2026-05-17T12:50:32Z</dcterms:created>
  <dcterms:modified xsi:type="dcterms:W3CDTF">2026-05-17T12:50:32Z</dcterms:modified>
</cp:coreProperties>
</file>